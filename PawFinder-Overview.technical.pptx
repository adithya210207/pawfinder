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2122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?>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8.png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0.png"/><Relationship Id="rId4" Type="http://schemas.openxmlformats.org/officeDocument/2006/relationships/image" Target="../media/image29.png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rotWithShape="1">
          <a:gsLst>
            <a:gs pos="0">
              <a:srgbClr val="1A3155"/>
            </a:gs>
            <a:gs pos="100000">
              <a:srgbClr val="0D1828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554480"/>
            <a:ext cx="3840480" cy="3840480"/>
          </a:xfrm>
          <a:prstGeom prst="ellipse">
            <a:avLst/>
          </a:prstGeom>
          <a:solidFill>
            <a:srgbClr val="1B3450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-640080"/>
            <a:ext cx="2011680" cy="2011680"/>
          </a:xfrm>
          <a:prstGeom prst="ellipse">
            <a:avLst/>
          </a:prstGeom>
          <a:solidFill>
            <a:srgbClr val="E8743B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051560" cy="105156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459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69748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PawFinder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548640" y="37947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dog adoption, foster &amp; volunteer platform — built for Coimbatore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48640" y="4526280"/>
            <a:ext cx="2743200" cy="0"/>
          </a:xfrm>
          <a:prstGeom prst="line">
            <a:avLst/>
          </a:prstGeom>
          <a:noFill/>
          <a:ln w="31750">
            <a:solidFill>
              <a:srgbClr val="0E7C7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4663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 ·  better-sqlite3  ·  Vanilla-JS SPA  ·  Electron desktop app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48640" y="6172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 ·  15 SLIDES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PawFinder solves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074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Coimbatore has thousands of street and shelter dogs waiting for homes — but the path from “I want to adopt” to a dog in your home is broken.</a:t>
            </a:r>
            <a:endParaRPr lang="en-US" sz="14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Rescue information is scattered across individual shelters, WhatsApp groups and phone calls. Adoption is paperwork-heavy, opaque, and offline.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5074920" cy="2148840"/>
          </a:xfrm>
          <a:prstGeom prst="rect">
            <a:avLst/>
          </a:prstGeom>
          <a:solidFill>
            <a:srgbClr val="12243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206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4526280"/>
            <a:ext cx="4526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5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trusted, local hub where adopters, fosters and volunteers meet verified Coimbatore shelters — and every step is tracked.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5989320" y="1600200"/>
            <a:ext cx="5669280" cy="1371600"/>
          </a:xfrm>
          <a:prstGeom prst="rect">
            <a:avLst/>
          </a:prstGeom>
          <a:solidFill>
            <a:srgbClr val="F4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89320" y="1600200"/>
            <a:ext cx="73152" cy="1371600"/>
          </a:xfrm>
          <a:prstGeom prst="rect">
            <a:avLst/>
          </a:prstGeom>
          <a:solidFill>
            <a:srgbClr val="E8743B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0" y="1911096"/>
            <a:ext cx="749808" cy="749808"/>
          </a:xfrm>
          <a:prstGeom prst="ellipse">
            <a:avLst/>
          </a:prstGeom>
          <a:solidFill>
            <a:srgbClr val="FBEAE0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2870" y="2106046"/>
            <a:ext cx="359908" cy="3599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178040" y="181965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 is hard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178040" y="2203704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place to browse dogs across local shelters with real filters.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989320" y="3118104"/>
            <a:ext cx="5669280" cy="1371600"/>
          </a:xfrm>
          <a:prstGeom prst="rect">
            <a:avLst/>
          </a:prstGeom>
          <a:solidFill>
            <a:srgbClr val="F4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89320" y="3118104"/>
            <a:ext cx="73152" cy="1371600"/>
          </a:xfrm>
          <a:prstGeom prst="rect">
            <a:avLst/>
          </a:prstGeom>
          <a:solidFill>
            <a:srgbClr val="E8743B"/>
          </a:solidFill>
          <a:ln/>
        </p:spPr>
      </p:sp>
      <p:sp>
        <p:nvSpPr>
          <p:cNvPr id="16" name="Shape 13"/>
          <p:cNvSpPr/>
          <p:nvPr/>
        </p:nvSpPr>
        <p:spPr>
          <a:xfrm>
            <a:off x="6217920" y="3429000"/>
            <a:ext cx="749808" cy="749808"/>
          </a:xfrm>
          <a:prstGeom prst="ellipse">
            <a:avLst/>
          </a:prstGeom>
          <a:solidFill>
            <a:srgbClr val="FBEAE0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2870" y="3623950"/>
            <a:ext cx="359908" cy="3599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178040" y="33375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 is opaque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7178040" y="3721608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forms, no status, no idea where an adoption application stands.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989320" y="4636008"/>
            <a:ext cx="5669280" cy="1371600"/>
          </a:xfrm>
          <a:prstGeom prst="rect">
            <a:avLst/>
          </a:prstGeom>
          <a:solidFill>
            <a:srgbClr val="F4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989320" y="4636008"/>
            <a:ext cx="73152" cy="1371600"/>
          </a:xfrm>
          <a:prstGeom prst="rect">
            <a:avLst/>
          </a:prstGeom>
          <a:solidFill>
            <a:srgbClr val="E8743B"/>
          </a:solidFill>
          <a:ln/>
        </p:spPr>
      </p:sp>
      <p:sp>
        <p:nvSpPr>
          <p:cNvPr id="22" name="Shape 18"/>
          <p:cNvSpPr/>
          <p:nvPr/>
        </p:nvSpPr>
        <p:spPr>
          <a:xfrm>
            <a:off x="6217920" y="4946904"/>
            <a:ext cx="749808" cy="749808"/>
          </a:xfrm>
          <a:prstGeom prst="ellipse">
            <a:avLst/>
          </a:prstGeom>
          <a:solidFill>
            <a:srgbClr val="FBEAE0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2870" y="5141854"/>
            <a:ext cx="359908" cy="35990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178040" y="485546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Help is fragmented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7178040" y="5239512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Fostering and volunteering rely on informal, untracked coordination.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1141445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548640" y="6400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PawFinder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6" grpId="0" animBg="1"/>
      <p:bldP spid="7" grpId="0" animBg="1"/>
      <p:bldP spid="12" grpId="0" animBg="1"/>
      <p:bldP spid="13" grpId="0" animBg="1"/>
      <p:bldP spid="18" grpId="0" animBg="1"/>
      <p:bldP spid="19" grpId="0" animBg="1"/>
      <p:bldP spid="24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AT A GLANCE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platform, five journeys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PawFinder is a single-page web app (packaged as a Windows desktop app) that connects people to dogs through five integrated flows.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59359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12243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313432"/>
            <a:ext cx="786384" cy="786384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132" y="2517892"/>
            <a:ext cx="377464" cy="377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368296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Adopt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04672" y="3136392"/>
            <a:ext cx="3090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Browse, search &amp; filter dogs; rich health &amp; temperament profiles; favourites.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89120" y="2057400"/>
            <a:ext cx="359359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12243B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45152" y="2313432"/>
            <a:ext cx="786384" cy="786384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9612" y="2517892"/>
            <a:ext cx="377464" cy="3774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77840" y="2368296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645152" y="3136392"/>
            <a:ext cx="3090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adoption application with document uploads &amp; live status.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229600" y="2057400"/>
            <a:ext cx="359359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12243B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85632" y="2313432"/>
            <a:ext cx="786384" cy="786384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0092" y="2517892"/>
            <a:ext cx="377464" cy="37746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418320" y="2368296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Foster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485632" y="3136392"/>
            <a:ext cx="3090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foster listings flagged by urgency and shelter need.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4087368"/>
            <a:ext cx="359359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12243B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04672" y="4343400"/>
            <a:ext cx="786384" cy="786384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9132" y="4547860"/>
            <a:ext cx="377464" cy="37746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737360" y="4398264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Volunteer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804672" y="5166360"/>
            <a:ext cx="3090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events, a paw-points leaderboard and community drives.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389120" y="4087368"/>
            <a:ext cx="359359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12243B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645152" y="4343400"/>
            <a:ext cx="786384" cy="786384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9612" y="4547860"/>
            <a:ext cx="377464" cy="37746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577840" y="4398264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Shelters</a:t>
            </a:r>
            <a:endParaRPr lang="en-US" sz="1800" dirty="0"/>
          </a:p>
        </p:txBody>
      </p:sp>
      <p:sp>
        <p:nvSpPr>
          <p:cNvPr id="29" name="Text 22"/>
          <p:cNvSpPr/>
          <p:nvPr/>
        </p:nvSpPr>
        <p:spPr>
          <a:xfrm>
            <a:off x="4645152" y="5166360"/>
            <a:ext cx="3090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of 8 verified Coimbatore shelters with stats &amp; messaging.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8229600" y="4087368"/>
            <a:ext cx="359359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12243B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485632" y="4343400"/>
            <a:ext cx="786384" cy="786384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90092" y="4547860"/>
            <a:ext cx="377464" cy="37746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418320" y="4398264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</a:t>
            </a:r>
            <a:endParaRPr lang="en-US" sz="1800" dirty="0"/>
          </a:p>
        </p:txBody>
      </p:sp>
      <p:sp>
        <p:nvSpPr>
          <p:cNvPr id="34" name="Text 26"/>
          <p:cNvSpPr/>
          <p:nvPr/>
        </p:nvSpPr>
        <p:spPr>
          <a:xfrm>
            <a:off x="8485632" y="5166360"/>
            <a:ext cx="3090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to manage dogs, shelters and review applications.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1141445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548640" y="6400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PawFinder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8" grpId="0" animBg="1"/>
      <p:bldP spid="9" grpId="0" animBg="1"/>
      <p:bldP spid="13" grpId="0" animBg="1"/>
      <p:bldP spid="14" grpId="0" animBg="1"/>
      <p:bldP spid="18" grpId="0" animBg="1"/>
      <p:bldP spid="19" grpId="0" animBg="1"/>
      <p:bldP spid="23" grpId="0" animBg="1"/>
      <p:bldP spid="24" grpId="0" animBg="1"/>
      <p:bldP spid="28" grpId="0" animBg="1"/>
      <p:bldP spid="29" grpId="0" animBg="1"/>
      <p:bldP spid="33" grpId="0" animBg="1"/>
      <p:bldP spid="3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040880" cy="841248"/>
          </a:xfrm>
          <a:prstGeom prst="rect">
            <a:avLst/>
          </a:prstGeom>
          <a:solidFill>
            <a:srgbClr val="F4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" y="1700784"/>
            <a:ext cx="548640" cy="548640"/>
          </a:xfrm>
          <a:prstGeom prst="ellipse">
            <a:avLst/>
          </a:prstGeom>
          <a:solidFill>
            <a:srgbClr val="E1EEE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90" y="1843430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6420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Desktop shell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246120" y="164592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33 + electron-builder — runs the Express server in-process, single window, single-instance lock.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2468880"/>
            <a:ext cx="7040880" cy="841248"/>
          </a:xfrm>
          <a:prstGeom prst="rect">
            <a:avLst/>
          </a:prstGeom>
          <a:solidFill>
            <a:srgbClr val="F4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94944" y="2615184"/>
            <a:ext cx="548640" cy="548640"/>
          </a:xfrm>
          <a:prstGeom prst="ellipse">
            <a:avLst/>
          </a:prstGeom>
          <a:solidFill>
            <a:srgbClr val="E1EEEE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" y="2757830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57860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246120" y="256032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4 — 9 modular REST routers, session middleware, SPA fallback.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383280"/>
            <a:ext cx="7040880" cy="841248"/>
          </a:xfrm>
          <a:prstGeom prst="rect">
            <a:avLst/>
          </a:prstGeom>
          <a:solidFill>
            <a:srgbClr val="F4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94944" y="3529584"/>
            <a:ext cx="548640" cy="548640"/>
          </a:xfrm>
          <a:prstGeom prst="ellipse">
            <a:avLst/>
          </a:prstGeom>
          <a:solidFill>
            <a:srgbClr val="E1EEEE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590" y="3672230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49300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layer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3246120" y="347472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better-sqlite3 (SQLite, WAL mode, foreign keys) — synchronous, file-based, zero-config.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4297680"/>
            <a:ext cx="7040880" cy="841248"/>
          </a:xfrm>
          <a:prstGeom prst="rect">
            <a:avLst/>
          </a:prstGeom>
          <a:solidFill>
            <a:srgbClr val="F4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94944" y="4443984"/>
            <a:ext cx="548640" cy="548640"/>
          </a:xfrm>
          <a:prstGeom prst="ellipse">
            <a:avLst/>
          </a:prstGeom>
          <a:solidFill>
            <a:srgbClr val="E1EEEE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590" y="4586630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440740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3246120" y="438912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Vanilla-JS single-page app — no framework: hand-rolled router, ~1,670 lines of app.js.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5212080"/>
            <a:ext cx="7040880" cy="841248"/>
          </a:xfrm>
          <a:prstGeom prst="rect">
            <a:avLst/>
          </a:prstGeom>
          <a:solidFill>
            <a:srgbClr val="F4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94944" y="5358384"/>
            <a:ext cx="548640" cy="548640"/>
          </a:xfrm>
          <a:prstGeom prst="ellipse">
            <a:avLst/>
          </a:prstGeom>
          <a:solidFill>
            <a:srgbClr val="E1EEEE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590" y="5501030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71600" y="532180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 &amp; uploads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3246120" y="530352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express-session + bcryptjs for auth; multer for document uploads.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7818120" y="1554480"/>
            <a:ext cx="3840480" cy="4572000"/>
          </a:xfrm>
          <a:prstGeom prst="rect">
            <a:avLst/>
          </a:prstGeom>
          <a:solidFill>
            <a:srgbClr val="12243B"/>
          </a:solidFill>
          <a:ln/>
        </p:spPr>
      </p:sp>
      <p:sp>
        <p:nvSpPr>
          <p:cNvPr id="30" name="Text 23"/>
          <p:cNvSpPr/>
          <p:nvPr/>
        </p:nvSpPr>
        <p:spPr>
          <a:xfrm>
            <a:off x="8092440" y="1783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8092440" y="219456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~5,100</a:t>
            </a:r>
            <a:endParaRPr lang="en-US" sz="3000" dirty="0"/>
          </a:p>
        </p:txBody>
      </p:sp>
      <p:sp>
        <p:nvSpPr>
          <p:cNvPr id="32" name="Text 25"/>
          <p:cNvSpPr/>
          <p:nvPr/>
        </p:nvSpPr>
        <p:spPr>
          <a:xfrm>
            <a:off x="8092440" y="2743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</a:t>
            </a:r>
            <a:endParaRPr lang="en-US" sz="1150" dirty="0"/>
          </a:p>
        </p:txBody>
      </p:sp>
      <p:sp>
        <p:nvSpPr>
          <p:cNvPr id="33" name="Text 26"/>
          <p:cNvSpPr/>
          <p:nvPr/>
        </p:nvSpPr>
        <p:spPr>
          <a:xfrm>
            <a:off x="8092440" y="316382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3000" dirty="0"/>
          </a:p>
        </p:txBody>
      </p:sp>
      <p:sp>
        <p:nvSpPr>
          <p:cNvPr id="34" name="Text 27"/>
          <p:cNvSpPr/>
          <p:nvPr/>
        </p:nvSpPr>
        <p:spPr>
          <a:xfrm>
            <a:off x="8092440" y="37124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tables</a:t>
            </a:r>
            <a:endParaRPr lang="en-US" sz="1150" dirty="0"/>
          </a:p>
        </p:txBody>
      </p:sp>
      <p:sp>
        <p:nvSpPr>
          <p:cNvPr id="35" name="Text 28"/>
          <p:cNvSpPr/>
          <p:nvPr/>
        </p:nvSpPr>
        <p:spPr>
          <a:xfrm>
            <a:off x="8092440" y="413308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3000" dirty="0"/>
          </a:p>
        </p:txBody>
      </p:sp>
      <p:sp>
        <p:nvSpPr>
          <p:cNvPr id="36" name="Text 29"/>
          <p:cNvSpPr/>
          <p:nvPr/>
        </p:nvSpPr>
        <p:spPr>
          <a:xfrm>
            <a:off x="8092440" y="46817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 modules</a:t>
            </a:r>
            <a:endParaRPr lang="en-US" sz="1150" dirty="0"/>
          </a:p>
        </p:txBody>
      </p:sp>
      <p:sp>
        <p:nvSpPr>
          <p:cNvPr id="37" name="Text 30"/>
          <p:cNvSpPr/>
          <p:nvPr/>
        </p:nvSpPr>
        <p:spPr>
          <a:xfrm>
            <a:off x="8092440" y="510235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~40</a:t>
            </a:r>
            <a:endParaRPr lang="en-US" sz="3000" dirty="0"/>
          </a:p>
        </p:txBody>
      </p:sp>
      <p:sp>
        <p:nvSpPr>
          <p:cNvPr id="38" name="Text 31"/>
          <p:cNvSpPr/>
          <p:nvPr/>
        </p:nvSpPr>
        <p:spPr>
          <a:xfrm>
            <a:off x="8092440" y="56509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</a:t>
            </a:r>
            <a:endParaRPr lang="en-US" sz="1150" dirty="0"/>
          </a:p>
        </p:txBody>
      </p:sp>
      <p:sp>
        <p:nvSpPr>
          <p:cNvPr id="39" name="Text 32"/>
          <p:cNvSpPr/>
          <p:nvPr/>
        </p:nvSpPr>
        <p:spPr>
          <a:xfrm>
            <a:off x="1141445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0" name="Text 33"/>
          <p:cNvSpPr/>
          <p:nvPr/>
        </p:nvSpPr>
        <p:spPr>
          <a:xfrm>
            <a:off x="548640" y="6400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PawFinder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288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 animBg="1"/>
      <p:bldP spid="8" grpId="0" animBg="1"/>
      <p:bldP spid="12" grpId="0" animBg="1"/>
      <p:bldP spid="13" grpId="0" animBg="1"/>
      <p:bldP spid="17" grpId="0" animBg="1"/>
      <p:bldP spid="18" grpId="0" animBg="1"/>
      <p:bldP spid="22" grpId="0" animBg="1"/>
      <p:bldP spid="23" grpId="0" animBg="1"/>
      <p:bldP spid="27" grpId="0" animBg="1"/>
      <p:bldP spid="28" grpId="0" animBg="1"/>
      <p:bldP spid="30" grpId="0" animBg="1"/>
      <p:bldP spid="31" grpId="0" animBg="1"/>
      <p:bldP spid="32" grpId="0" animBg="1"/>
      <p:bldP spid="34" grpId="0" animBg="1"/>
      <p:bldP spid="36" grpId="0" animBg="1"/>
      <p:bldP spid="37" grpId="0" animBg="1"/>
      <p:bldP spid="3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gradFill rotWithShape="1">
          <a:gsLst>
            <a:gs pos="0">
              <a:srgbClr val="1A3155"/>
            </a:gs>
            <a:gs pos="100000">
              <a:srgbClr val="0D1828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 request flows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331720" cy="1783080"/>
          </a:xfrm>
          <a:prstGeom prst="rect">
            <a:avLst/>
          </a:prstGeom>
          <a:solidFill>
            <a:srgbClr val="1B3450"/>
          </a:solidFill>
          <a:ln w="15875">
            <a:solidFill>
              <a:srgbClr val="E874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020824"/>
            <a:ext cx="2002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Electron Shell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94944" y="2404872"/>
            <a:ext cx="203911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BrowserWindow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localhost:38217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46120" y="1874520"/>
            <a:ext cx="2331720" cy="1783080"/>
          </a:xfrm>
          <a:prstGeom prst="rect">
            <a:avLst/>
          </a:prstGeom>
          <a:solidFill>
            <a:srgbClr val="1B3450"/>
          </a:solidFill>
          <a:ln w="15875">
            <a:solidFill>
              <a:srgbClr val="E874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2020824"/>
            <a:ext cx="2002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 Client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392424" y="2404872"/>
            <a:ext cx="203911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· app.js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to /api/*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89320" y="1874520"/>
            <a:ext cx="2331720" cy="1783080"/>
          </a:xfrm>
          <a:prstGeom prst="rect">
            <a:avLst/>
          </a:prstGeom>
          <a:solidFill>
            <a:srgbClr val="1B3450"/>
          </a:solidFill>
          <a:ln w="15875">
            <a:solidFill>
              <a:srgbClr val="0E7C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53912" y="2020824"/>
            <a:ext cx="2002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Express Server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135624" y="2404872"/>
            <a:ext cx="203911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· static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REST routers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732520" y="1874520"/>
            <a:ext cx="2907792" cy="1783080"/>
          </a:xfrm>
          <a:prstGeom prst="rect">
            <a:avLst/>
          </a:prstGeom>
          <a:solidFill>
            <a:srgbClr val="1B3450"/>
          </a:solidFill>
          <a:ln w="15875">
            <a:solidFill>
              <a:srgbClr val="0E7C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97112" y="2020824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better-sqlite3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878824" y="2404872"/>
            <a:ext cx="261518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pawfinder.db (WAL)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statements</a:t>
            </a:r>
            <a:endParaRPr lang="en-US" sz="105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728" y="2638044"/>
            <a:ext cx="310896" cy="310896"/>
          </a:xfrm>
          <a:prstGeom prst="rect">
            <a:avLst/>
          </a:prstGeom>
        </p:spPr>
      </p:pic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2638044"/>
            <a:ext cx="310896" cy="310896"/>
          </a:xfrm>
          <a:prstGeom prst="rect">
            <a:avLst/>
          </a:prstGeom>
        </p:spPr>
      </p:pic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2638044"/>
            <a:ext cx="310896" cy="31089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48640" y="4160520"/>
            <a:ext cx="11094415" cy="1920240"/>
          </a:xfrm>
          <a:prstGeom prst="rect">
            <a:avLst/>
          </a:prstGeom>
          <a:solidFill>
            <a:srgbClr val="1B3450"/>
          </a:solidFill>
          <a:ln w="12700">
            <a:solidFill>
              <a:srgbClr val="2C4A6B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22960" y="4343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NOTES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22960" y="4645152"/>
            <a:ext cx="10545775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Server-in-process — Electron starts the same Express app used in dev (no separate API process).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uploads live in Electron userData (writable per-user dir) via PAWFINDER_DB / PAWFINDER_UPLOADS.</a:t>
            </a:r>
            <a:endParaRPr lang="en-US" sz="12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content re-syncs idempotently on every boot — INSERT OR IGNORE keeps user data intact.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141445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548640" y="6400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PawFinder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20" grpId="0" animBg="1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surface — 9 REST routers</a:t>
            </a:r>
            <a:endParaRPr lang="en-US" sz="3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4415" cy="914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8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Mounted 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/api/auth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Register, login, logout, current-user session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/api/dogs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Browse/search/filter, featured &amp; urgent, favourites, admin CRUD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shelters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/api/shelters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Directory, per-shelter stats, admin CRUD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/api/applications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Submit application + document uploads, admin decisions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/api/users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Profile, favourites list, notifications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articles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/api/articles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Pet-care knowledge content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foster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/api/foster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Foster dog listings &amp; program stats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volunteer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/api/volunteer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Roles, events, leaderboard, stats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/api/chat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↔ shelter messaging threads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1081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is gated by two session-based guards: requireAuth (any logged-in user) and requireAdmin (admin only).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41445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4"/>
          <p:cNvSpPr/>
          <p:nvPr/>
        </p:nvSpPr>
        <p:spPr>
          <a:xfrm>
            <a:off x="548640" y="6400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PawFinder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tables, one SQLite file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93592" cy="786384"/>
          </a:xfrm>
          <a:prstGeom prst="rect">
            <a:avLst/>
          </a:prstGeom>
          <a:solidFill>
            <a:srgbClr val="F4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64008" cy="786384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00200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1892808"/>
            <a:ext cx="3319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accounts, paw-points, admin flag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1508760"/>
            <a:ext cx="3593592" cy="786384"/>
          </a:xfrm>
          <a:prstGeom prst="rect">
            <a:avLst/>
          </a:prstGeom>
          <a:solidFill>
            <a:srgbClr val="F4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1508760"/>
            <a:ext cx="64008" cy="786384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600200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shelters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0" y="1892808"/>
            <a:ext cx="3319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verified Coimbatore shelters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0" y="1508760"/>
            <a:ext cx="3593592" cy="786384"/>
          </a:xfrm>
          <a:prstGeom prst="rect">
            <a:avLst/>
          </a:prstGeom>
          <a:solidFill>
            <a:srgbClr val="F4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1508760"/>
            <a:ext cx="64008" cy="786384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0" y="1600200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412480" y="1892808"/>
            <a:ext cx="3319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profile, health, traits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496312"/>
            <a:ext cx="3593592" cy="786384"/>
          </a:xfrm>
          <a:prstGeom prst="rect">
            <a:avLst/>
          </a:prstGeom>
          <a:solidFill>
            <a:srgbClr val="F4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496312"/>
            <a:ext cx="64008" cy="786384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587752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favourites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31520" y="2880360"/>
            <a:ext cx="3319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↔ dog saves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89120" y="2496312"/>
            <a:ext cx="3593592" cy="786384"/>
          </a:xfrm>
          <a:prstGeom prst="rect">
            <a:avLst/>
          </a:prstGeom>
          <a:solidFill>
            <a:srgbClr val="F4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0" y="2496312"/>
            <a:ext cx="64008" cy="786384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2587752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0" y="2880360"/>
            <a:ext cx="3319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requests + status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229600" y="2496312"/>
            <a:ext cx="3593592" cy="786384"/>
          </a:xfrm>
          <a:prstGeom prst="rect">
            <a:avLst/>
          </a:prstGeom>
          <a:solidFill>
            <a:srgbClr val="F4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0" y="2496312"/>
            <a:ext cx="64008" cy="786384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0" y="2587752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application_documents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412480" y="2880360"/>
            <a:ext cx="3319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ID / proofs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3483864"/>
            <a:ext cx="3593592" cy="786384"/>
          </a:xfrm>
          <a:prstGeom prst="rect">
            <a:avLst/>
          </a:prstGeom>
          <a:solidFill>
            <a:srgbClr val="F4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3483864"/>
            <a:ext cx="64008" cy="786384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3575304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31520" y="3867912"/>
            <a:ext cx="3319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↔ shelter chat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389120" y="3483864"/>
            <a:ext cx="3593592" cy="786384"/>
          </a:xfrm>
          <a:prstGeom prst="rect">
            <a:avLst/>
          </a:prstGeom>
          <a:solidFill>
            <a:srgbClr val="F4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89120" y="3483864"/>
            <a:ext cx="64008" cy="786384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0" y="3575304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572000" y="3867912"/>
            <a:ext cx="3319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per-user, read flag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229600" y="3483864"/>
            <a:ext cx="3593592" cy="786384"/>
          </a:xfrm>
          <a:prstGeom prst="rect">
            <a:avLst/>
          </a:prstGeom>
          <a:solidFill>
            <a:srgbClr val="F4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29600" y="3483864"/>
            <a:ext cx="64008" cy="786384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8" name="Text 36"/>
          <p:cNvSpPr/>
          <p:nvPr/>
        </p:nvSpPr>
        <p:spPr>
          <a:xfrm>
            <a:off x="8412480" y="3575304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articles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412480" y="3867912"/>
            <a:ext cx="3319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pet-care content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48640" y="4471416"/>
            <a:ext cx="3593592" cy="786384"/>
          </a:xfrm>
          <a:prstGeom prst="rect">
            <a:avLst/>
          </a:prstGeom>
          <a:solidFill>
            <a:srgbClr val="F4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8640" y="4471416"/>
            <a:ext cx="64008" cy="786384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2" name="Text 40"/>
          <p:cNvSpPr/>
          <p:nvPr/>
        </p:nvSpPr>
        <p:spPr>
          <a:xfrm>
            <a:off x="731520" y="4562856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foster_dogs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731520" y="4855464"/>
            <a:ext cx="3319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foster listings + urgency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389120" y="4471416"/>
            <a:ext cx="3593592" cy="786384"/>
          </a:xfrm>
          <a:prstGeom prst="rect">
            <a:avLst/>
          </a:prstGeom>
          <a:solidFill>
            <a:srgbClr val="F4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389120" y="4471416"/>
            <a:ext cx="64008" cy="786384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0" y="4562856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volunteer_roles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4572000" y="4855464"/>
            <a:ext cx="3319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volunteer positions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229600" y="4471416"/>
            <a:ext cx="3593592" cy="786384"/>
          </a:xfrm>
          <a:prstGeom prst="rect">
            <a:avLst/>
          </a:prstGeom>
          <a:solidFill>
            <a:srgbClr val="F4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229600" y="4471416"/>
            <a:ext cx="64008" cy="786384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50" name="Text 48"/>
          <p:cNvSpPr/>
          <p:nvPr/>
        </p:nvSpPr>
        <p:spPr>
          <a:xfrm>
            <a:off x="8412480" y="4562856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volunteer_events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8412480" y="4855464"/>
            <a:ext cx="3319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&amp; attendance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WAL journal + foreign keys on   ·   </a:t>
            </a: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schema auto-migrates on boot   ·   idempotent </a:t>
            </a:r>
            <a:r>
              <a:rPr lang="en-US" sz="11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syncContent()</a:t>
            </a: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re-seeds the catalogue without wiping user data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1141445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48640" y="6400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PawFinder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288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288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288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10" grpId="0" animBg="1"/>
      <p:bldP spid="11" grpId="0" animBg="1"/>
      <p:bldP spid="14" grpId="0" animBg="1"/>
      <p:bldP spid="15" grpId="0" animBg="1"/>
      <p:bldP spid="18" grpId="0" animBg="1"/>
      <p:bldP spid="19" grpId="0" animBg="1"/>
      <p:bldP spid="22" grpId="0" animBg="1"/>
      <p:bldP spid="23" grpId="0" animBg="1"/>
      <p:bldP spid="26" grpId="0" animBg="1"/>
      <p:bldP spid="27" grpId="0" animBg="1"/>
      <p:bldP spid="30" grpId="0" animBg="1"/>
      <p:bldP spid="31" grpId="0" animBg="1"/>
      <p:bldP spid="34" grpId="0" animBg="1"/>
      <p:bldP spid="35" grpId="0" animBg="1"/>
      <p:bldP spid="38" grpId="0" animBg="1"/>
      <p:bldP spid="39" grpId="0" animBg="1"/>
      <p:bldP spid="42" grpId="0" animBg="1"/>
      <p:bldP spid="43" grpId="0" animBg="1"/>
      <p:bldP spid="46" grpId="0" animBg="1"/>
      <p:bldP spid="47" grpId="0" animBg="1"/>
      <p:bldP spid="50" grpId="0" animBg="1"/>
      <p:bldP spid="51" grpId="0" animBg="1"/>
      <p:bldP spid="5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1 — ADOPT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the right dog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40080" cy="64008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176662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58191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 &amp; filter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417320" y="1901952"/>
            <a:ext cx="5760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name, breed or location, plus filters: puppy / adult / senior, gender, size, vaccinated, trained.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724912"/>
            <a:ext cx="640080" cy="64008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61" y="2891333"/>
            <a:ext cx="307238" cy="30723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70662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surfacing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417320" y="3026664"/>
            <a:ext cx="5760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Featured, urgent and recently-added rails order results by need first.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849624"/>
            <a:ext cx="640080" cy="64008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61" y="4016045"/>
            <a:ext cx="307238" cy="30723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83133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Rich profiles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417320" y="4151376"/>
            <a:ext cx="5760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(vaccinated, neutered, dewormed, microchipped), temperament, energy, diet, care needs.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974336"/>
            <a:ext cx="640080" cy="64008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061" y="5140757"/>
            <a:ext cx="307238" cy="30723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4956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Favourites &amp; similar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1417320" y="5276088"/>
            <a:ext cx="5760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favourite per user; “similar dogs” by size to keep browsing.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7772400" y="1554480"/>
            <a:ext cx="38862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12243B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772400" y="1554480"/>
            <a:ext cx="3886200" cy="1783080"/>
          </a:xfrm>
          <a:prstGeom prst="rect">
            <a:avLst/>
          </a:prstGeom>
          <a:solidFill>
            <a:srgbClr val="12243B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8300" y="2011680"/>
            <a:ext cx="914400" cy="914400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8001000" y="1737360"/>
            <a:ext cx="1051560" cy="310896"/>
          </a:xfrm>
          <a:prstGeom prst="rect">
            <a:avLst/>
          </a:prstGeom>
          <a:solidFill>
            <a:srgbClr val="E8743B"/>
          </a:solidFill>
          <a:ln/>
        </p:spPr>
      </p:sp>
      <p:sp>
        <p:nvSpPr>
          <p:cNvPr id="24" name="Text 17"/>
          <p:cNvSpPr/>
          <p:nvPr/>
        </p:nvSpPr>
        <p:spPr>
          <a:xfrm>
            <a:off x="8001000" y="17373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8046720" y="342900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Bruno</a:t>
            </a:r>
            <a:endParaRPr lang="en-US" sz="2100" dirty="0"/>
          </a:p>
        </p:txBody>
      </p:sp>
      <p:sp>
        <p:nvSpPr>
          <p:cNvPr id="26" name="Text 19"/>
          <p:cNvSpPr/>
          <p:nvPr/>
        </p:nvSpPr>
        <p:spPr>
          <a:xfrm>
            <a:off x="8046720" y="38221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Indie  ·  1 yr  ·  Male  ·  Medium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8046720" y="420624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E1EEEE"/>
          </a:solidFill>
          <a:ln/>
        </p:spPr>
      </p:sp>
      <p:sp>
        <p:nvSpPr>
          <p:cNvPr id="28" name="Text 21"/>
          <p:cNvSpPr/>
          <p:nvPr/>
        </p:nvSpPr>
        <p:spPr>
          <a:xfrm>
            <a:off x="8046720" y="420624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Vaccinated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9162288" y="4206240"/>
            <a:ext cx="855878" cy="310896"/>
          </a:xfrm>
          <a:prstGeom prst="roundRect">
            <a:avLst>
              <a:gd name="adj" fmla="val 50000"/>
            </a:avLst>
          </a:prstGeom>
          <a:solidFill>
            <a:srgbClr val="E1EEEE"/>
          </a:solidFill>
          <a:ln/>
        </p:spPr>
      </p:sp>
      <p:sp>
        <p:nvSpPr>
          <p:cNvPr id="30" name="Text 23"/>
          <p:cNvSpPr/>
          <p:nvPr/>
        </p:nvSpPr>
        <p:spPr>
          <a:xfrm>
            <a:off x="9162288" y="4206240"/>
            <a:ext cx="8558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Neutered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10127894" y="4206240"/>
            <a:ext cx="1155802" cy="310896"/>
          </a:xfrm>
          <a:prstGeom prst="roundRect">
            <a:avLst>
              <a:gd name="adj" fmla="val 50000"/>
            </a:avLst>
          </a:prstGeom>
          <a:solidFill>
            <a:srgbClr val="E1EEEE"/>
          </a:solidFill>
          <a:ln/>
        </p:spPr>
      </p:sp>
      <p:sp>
        <p:nvSpPr>
          <p:cNvPr id="32" name="Text 25"/>
          <p:cNvSpPr/>
          <p:nvPr/>
        </p:nvSpPr>
        <p:spPr>
          <a:xfrm>
            <a:off x="10127894" y="4206240"/>
            <a:ext cx="115580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w/ kids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8046720" y="468172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R.S. Puram, Coimbatore  ·  Blue Cross of Coimbatore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8046720" y="5257800"/>
            <a:ext cx="3337560" cy="566928"/>
          </a:xfrm>
          <a:prstGeom prst="rect">
            <a:avLst/>
          </a:prstGeom>
          <a:solidFill>
            <a:srgbClr val="E8743B"/>
          </a:solidFill>
          <a:ln/>
        </p:spPr>
      </p:sp>
      <p:sp>
        <p:nvSpPr>
          <p:cNvPr id="35" name="Text 28"/>
          <p:cNvSpPr/>
          <p:nvPr/>
        </p:nvSpPr>
        <p:spPr>
          <a:xfrm>
            <a:off x="8046720" y="525780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to adopt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1141445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548640" y="6400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PawFinder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288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10" grpId="0" animBg="1"/>
      <p:bldP spid="11" grpId="0" animBg="1"/>
      <p:bldP spid="14" grpId="0" animBg="1"/>
      <p:bldP spid="15" grpId="0" animBg="1"/>
      <p:bldP spid="18" grpId="0" animBg="1"/>
      <p:bldP spid="19" grpId="0" animBg="1"/>
      <p:bldP spid="24" grpId="0" animBg="1"/>
      <p:bldP spid="25" grpId="0" animBg="1"/>
      <p:bldP spid="26" grpId="0" animBg="1"/>
      <p:bldP spid="28" grpId="0" animBg="1"/>
      <p:bldP spid="30" grpId="0" animBg="1"/>
      <p:bldP spid="32" grpId="0" animBg="1"/>
      <p:bldP spid="33" grpId="0" animBg="1"/>
      <p:bldP spid="3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2 — APPLY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tracked adoption application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7919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12243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2679192" cy="109728"/>
          </a:xfrm>
          <a:prstGeom prst="rect">
            <a:avLst/>
          </a:prstGeom>
          <a:solidFill>
            <a:srgbClr val="E8743B"/>
          </a:solidFill>
          <a:ln/>
        </p:spPr>
      </p:sp>
      <p:sp>
        <p:nvSpPr>
          <p:cNvPr id="6" name="Shape 4"/>
          <p:cNvSpPr/>
          <p:nvPr/>
        </p:nvSpPr>
        <p:spPr>
          <a:xfrm>
            <a:off x="1495044" y="2011680"/>
            <a:ext cx="786384" cy="786384"/>
          </a:xfrm>
          <a:prstGeom prst="ellipse">
            <a:avLst/>
          </a:prstGeom>
          <a:solidFill>
            <a:srgbClr val="12243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9504" y="2216140"/>
            <a:ext cx="377464" cy="377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907792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31520" y="3127248"/>
            <a:ext cx="2313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form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49808" y="3529584"/>
            <a:ext cx="2276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Residence, outdoor space, experience, other pets, children, hours alone, reason.</a:t>
            </a:r>
            <a:endParaRPr lang="en-US" sz="10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6976" y="2880360"/>
            <a:ext cx="274320" cy="274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383280" y="1691640"/>
            <a:ext cx="267919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12243B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383280" y="1691640"/>
            <a:ext cx="2679192" cy="109728"/>
          </a:xfrm>
          <a:prstGeom prst="rect">
            <a:avLst/>
          </a:prstGeom>
          <a:solidFill>
            <a:srgbClr val="E8743B"/>
          </a:solidFill>
          <a:ln/>
        </p:spPr>
      </p:sp>
      <p:sp>
        <p:nvSpPr>
          <p:cNvPr id="14" name="Shape 10"/>
          <p:cNvSpPr/>
          <p:nvPr/>
        </p:nvSpPr>
        <p:spPr>
          <a:xfrm>
            <a:off x="4329684" y="2011680"/>
            <a:ext cx="786384" cy="786384"/>
          </a:xfrm>
          <a:prstGeom prst="ellipse">
            <a:avLst/>
          </a:prstGeom>
          <a:solidFill>
            <a:srgbClr val="12243B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4144" y="2216140"/>
            <a:ext cx="377464" cy="3774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566160" y="2907792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3566160" y="3127248"/>
            <a:ext cx="2313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 upload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3584448" y="3529584"/>
            <a:ext cx="2276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 ID, address &amp; income proof, home photos — multer, 8 MB, JPG/PNG/WEBP/PDF.</a:t>
            </a:r>
            <a:endParaRPr lang="en-US" sz="105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1616" y="2880360"/>
            <a:ext cx="274320" cy="27432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217920" y="1691640"/>
            <a:ext cx="267919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12243B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217920" y="1691640"/>
            <a:ext cx="2679192" cy="109728"/>
          </a:xfrm>
          <a:prstGeom prst="rect">
            <a:avLst/>
          </a:prstGeom>
          <a:solidFill>
            <a:srgbClr val="E8743B"/>
          </a:solidFill>
          <a:ln/>
        </p:spPr>
      </p:sp>
      <p:sp>
        <p:nvSpPr>
          <p:cNvPr id="22" name="Shape 16"/>
          <p:cNvSpPr/>
          <p:nvPr/>
        </p:nvSpPr>
        <p:spPr>
          <a:xfrm>
            <a:off x="7164324" y="2011680"/>
            <a:ext cx="786384" cy="786384"/>
          </a:xfrm>
          <a:prstGeom prst="ellipse">
            <a:avLst/>
          </a:prstGeom>
          <a:solidFill>
            <a:srgbClr val="12243B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8784" y="2216140"/>
            <a:ext cx="377464" cy="37746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400800" y="2907792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6400800" y="3127248"/>
            <a:ext cx="2313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queue</a:t>
            </a:r>
            <a:endParaRPr lang="en-US" sz="1450" dirty="0"/>
          </a:p>
        </p:txBody>
      </p:sp>
      <p:sp>
        <p:nvSpPr>
          <p:cNvPr id="26" name="Text 19"/>
          <p:cNvSpPr/>
          <p:nvPr/>
        </p:nvSpPr>
        <p:spPr>
          <a:xfrm>
            <a:off x="6419088" y="3529584"/>
            <a:ext cx="2276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starts pending with a progress %; lands in the admin review queue.</a:t>
            </a:r>
            <a:endParaRPr lang="en-US" sz="105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6256" y="2880360"/>
            <a:ext cx="274320" cy="27432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9052560" y="1691640"/>
            <a:ext cx="267919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12243B">
                <a:alpha val="10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9052560" y="1691640"/>
            <a:ext cx="2679192" cy="109728"/>
          </a:xfrm>
          <a:prstGeom prst="rect">
            <a:avLst/>
          </a:prstGeom>
          <a:solidFill>
            <a:srgbClr val="E8743B"/>
          </a:solidFill>
          <a:ln/>
        </p:spPr>
      </p:sp>
      <p:sp>
        <p:nvSpPr>
          <p:cNvPr id="30" name="Shape 22"/>
          <p:cNvSpPr/>
          <p:nvPr/>
        </p:nvSpPr>
        <p:spPr>
          <a:xfrm>
            <a:off x="9998964" y="2011680"/>
            <a:ext cx="786384" cy="786384"/>
          </a:xfrm>
          <a:prstGeom prst="ellipse">
            <a:avLst/>
          </a:prstGeom>
          <a:solidFill>
            <a:srgbClr val="12243B"/>
          </a:solidFill>
          <a:ln/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3424" y="2216140"/>
            <a:ext cx="377464" cy="377464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9235440" y="2907792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33" name="Text 24"/>
          <p:cNvSpPr/>
          <p:nvPr/>
        </p:nvSpPr>
        <p:spPr>
          <a:xfrm>
            <a:off x="9235440" y="3127248"/>
            <a:ext cx="2313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decision</a:t>
            </a:r>
            <a:endParaRPr lang="en-US" sz="1450" dirty="0"/>
          </a:p>
        </p:txBody>
      </p:sp>
      <p:sp>
        <p:nvSpPr>
          <p:cNvPr id="34" name="Text 25"/>
          <p:cNvSpPr/>
          <p:nvPr/>
        </p:nvSpPr>
        <p:spPr>
          <a:xfrm>
            <a:off x="9253728" y="3529584"/>
            <a:ext cx="2276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approves or declines; applicant sees the updated status live.</a:t>
            </a:r>
            <a:endParaRPr lang="en-US" sz="1050" dirty="0"/>
          </a:p>
        </p:txBody>
      </p:sp>
      <p:sp>
        <p:nvSpPr>
          <p:cNvPr id="35" name="Shape 26"/>
          <p:cNvSpPr/>
          <p:nvPr/>
        </p:nvSpPr>
        <p:spPr>
          <a:xfrm>
            <a:off x="548640" y="4709160"/>
            <a:ext cx="11094415" cy="1325880"/>
          </a:xfrm>
          <a:prstGeom prst="rect">
            <a:avLst/>
          </a:prstGeom>
          <a:solidFill>
            <a:srgbClr val="F4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27"/>
          <p:cNvSpPr/>
          <p:nvPr/>
        </p:nvSpPr>
        <p:spPr>
          <a:xfrm>
            <a:off x="822960" y="4919472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Why it matters:  </a:t>
            </a: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applicant always knows where they stand, and shelters get structured, document-backed requests instead of scattered phone calls — uploads are validated for type and size, and stored in a writable per-user directory.</a:t>
            </a:r>
            <a:endParaRPr lang="en-US" sz="1250" dirty="0"/>
          </a:p>
        </p:txBody>
      </p:sp>
      <p:sp>
        <p:nvSpPr>
          <p:cNvPr id="37" name="Text 28"/>
          <p:cNvSpPr/>
          <p:nvPr/>
        </p:nvSpPr>
        <p:spPr>
          <a:xfrm>
            <a:off x="1141445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8" name="Text 29"/>
          <p:cNvSpPr/>
          <p:nvPr/>
        </p:nvSpPr>
        <p:spPr>
          <a:xfrm>
            <a:off x="548640" y="6400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PawFinder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8" grpId="0" animBg="1"/>
      <p:bldP spid="9" grpId="0" animBg="1"/>
      <p:bldP spid="10" grpId="0" animBg="1"/>
      <p:bldP spid="16" grpId="0" animBg="1"/>
      <p:bldP spid="17" grpId="0" animBg="1"/>
      <p:bldP spid="18" grpId="0" animBg="1"/>
      <p:bldP spid="24" grpId="0" animBg="1"/>
      <p:bldP spid="25" grpId="0" animBg="1"/>
      <p:bldP spid="26" grpId="0" animBg="1"/>
      <p:bldP spid="32" grpId="0" animBg="1"/>
      <p:bldP spid="33" grpId="0" animBg="1"/>
      <p:bldP spid="34" grpId="0" animBg="1"/>
      <p:bldP spid="3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3 &amp; 4 — GIVE BACK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Foster, volunteer &amp; earn paw-points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12243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10512"/>
            <a:ext cx="713232" cy="713232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400" y="1995952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385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Foster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754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foster listings per dog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tagged with reason, duration &amp; urgency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Drawn live from the shelters that need help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554480"/>
            <a:ext cx="534924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12243B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1810512"/>
            <a:ext cx="713232" cy="713232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3400" y="1995952"/>
            <a:ext cx="342351" cy="3423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19385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Volunteer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583680" y="2606040"/>
            <a:ext cx="4754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roles with spots-available status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events with attendance caps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surfaced alongside live program stats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572000"/>
            <a:ext cx="11094415" cy="1463040"/>
          </a:xfrm>
          <a:prstGeom prst="rect">
            <a:avLst/>
          </a:prstGeom>
          <a:solidFill>
            <a:srgbClr val="12243B"/>
          </a:solidFill>
          <a:ln/>
        </p:spPr>
      </p:sp>
      <p:sp>
        <p:nvSpPr>
          <p:cNvPr id="15" name="Shape 11"/>
          <p:cNvSpPr/>
          <p:nvPr/>
        </p:nvSpPr>
        <p:spPr>
          <a:xfrm>
            <a:off x="868680" y="4892040"/>
            <a:ext cx="822960" cy="82296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2650" y="510601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65960" y="48006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Paw-points &amp; leaderboard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965960" y="5175504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member starts at 100 points and climbs a public leaderboard by helping out — turning adoption &amp; volunteering into a community game.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315200" y="4754880"/>
            <a:ext cx="0" cy="1097280"/>
          </a:xfrm>
          <a:prstGeom prst="line">
            <a:avLst/>
          </a:prstGeom>
          <a:noFill/>
          <a:ln w="12700">
            <a:solidFill>
              <a:srgbClr val="2C4A6B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7589520" y="48280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2A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240</a:t>
            </a:r>
            <a:endParaRPr lang="en-US" sz="3400" dirty="0"/>
          </a:p>
        </p:txBody>
      </p:sp>
      <p:sp>
        <p:nvSpPr>
          <p:cNvPr id="21" name="Text 16"/>
          <p:cNvSpPr/>
          <p:nvPr/>
        </p:nvSpPr>
        <p:spPr>
          <a:xfrm>
            <a:off x="7589520" y="5440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user’s points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9784080" y="48280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</a:t>
            </a:r>
            <a:endParaRPr lang="en-US" sz="3400" dirty="0"/>
          </a:p>
        </p:txBody>
      </p:sp>
      <p:sp>
        <p:nvSpPr>
          <p:cNvPr id="23" name="Text 18"/>
          <p:cNvSpPr/>
          <p:nvPr/>
        </p:nvSpPr>
        <p:spPr>
          <a:xfrm>
            <a:off x="9784080" y="5440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balance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1141445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548640" y="6400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PawFinder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 animBg="1"/>
      <p:bldP spid="8" grpId="0" animBg="1"/>
      <p:bldP spid="12" grpId="0" animBg="1"/>
      <p:bldP spid="13" grpId="0" animBg="1"/>
      <p:bldP spid="17" grpId="0" animBg="1"/>
      <p:bldP spid="18" grpId="0" animBg="1"/>
      <p:bldP spid="21" grpId="0" animBg="1"/>
      <p:bldP spid="2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5 — CONNECT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Shelters, knowledge &amp; messaging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2148840"/>
          </a:xfrm>
          <a:prstGeom prst="rect">
            <a:avLst/>
          </a:prstGeom>
          <a:solidFill>
            <a:srgbClr val="F4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810512"/>
            <a:ext cx="731520" cy="73152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867" y="2000707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7452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Verified shelter directory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2960" y="2578608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real Coimbatore shelters (R.S. Puram, Saibaba Colony, Gandhipuram, Peelamedu…) each with rating, distance, dogs available, dogs rehomed and volunteer counts.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91072" y="1554480"/>
            <a:ext cx="5349240" cy="2148840"/>
          </a:xfrm>
          <a:prstGeom prst="rect">
            <a:avLst/>
          </a:prstGeom>
          <a:solidFill>
            <a:srgbClr val="F4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47104" y="1810512"/>
            <a:ext cx="731520" cy="73152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7299" y="2000707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34072" y="187452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Pet-care knowledge hub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565392" y="2578608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articles with categories, read-time and author so adopters arrive prepared, not guessing.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931920"/>
            <a:ext cx="5349240" cy="2148840"/>
          </a:xfrm>
          <a:prstGeom prst="rect">
            <a:avLst/>
          </a:prstGeom>
          <a:solidFill>
            <a:srgbClr val="F4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4672" y="4187952"/>
            <a:ext cx="731520" cy="73152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867" y="4378147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25196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Shelter messaging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22960" y="4956048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user ↔ shelter message threads to ask about a dog before applying.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91072" y="3931920"/>
            <a:ext cx="5349240" cy="2148840"/>
          </a:xfrm>
          <a:prstGeom prst="rect">
            <a:avLst/>
          </a:prstGeom>
          <a:solidFill>
            <a:srgbClr val="F4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47104" y="4187952"/>
            <a:ext cx="731520" cy="73152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7299" y="4378147"/>
            <a:ext cx="351130" cy="35113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34072" y="425196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Notifications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6565392" y="4956048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notification feed with read / unread state for nudges and updates.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141445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548640" y="6400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PawFinder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 animBg="1"/>
      <p:bldP spid="8" grpId="0" animBg="1"/>
      <p:bldP spid="12" grpId="0" animBg="1"/>
      <p:bldP spid="13" grpId="0" animBg="1"/>
      <p:bldP spid="17" grpId="0" animBg="1"/>
      <p:bldP spid="18" grpId="0" animBg="1"/>
      <p:bldP spid="22" grpId="0" animBg="1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&amp; access control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session-based middleware guards split the app into a public/member surface and an admin console.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12243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65960"/>
            <a:ext cx="5349240" cy="7772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6596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requireAuth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 logged-in member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291840"/>
            <a:ext cx="4709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&amp; favourite dogs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adoption applications + documents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shelters, manage profile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notifications &amp; paw-points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965960"/>
            <a:ext cx="53492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12243B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1965960"/>
            <a:ext cx="5349240" cy="777240"/>
          </a:xfrm>
          <a:prstGeom prst="rect">
            <a:avLst/>
          </a:prstGeom>
          <a:solidFill>
            <a:srgbClr val="E8743B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196596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requireAdmin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37960" y="288036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console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83680" y="3291840"/>
            <a:ext cx="4709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on dogs &amp; shelters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every application + uploaded documents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decline with one action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demo admin: demo@pawfinder.in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1445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6400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PawFinder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8" grpId="0" animBg="1"/>
      <p:bldP spid="9" grpId="0" animBg="1"/>
      <p:bldP spid="12" grpId="0" animBg="1"/>
      <p:bldP spid="13" grpId="0" animBg="1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posture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1417320"/>
          </a:xfrm>
          <a:prstGeom prst="rect">
            <a:avLst/>
          </a:prstGeom>
          <a:solidFill>
            <a:srgbClr val="F4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37944"/>
            <a:ext cx="749808" cy="74980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190" y="2032894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099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Hashed passwords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91640" y="205740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stored as bcrypt hashes (bcryptjs) — never in plain text.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91072" y="1508760"/>
            <a:ext cx="5349240" cy="1417320"/>
          </a:xfrm>
          <a:prstGeom prst="rect">
            <a:avLst/>
          </a:prstGeom>
          <a:solidFill>
            <a:srgbClr val="F4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19672" y="1837944"/>
            <a:ext cx="749808" cy="74980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4622" y="2032894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34072" y="17099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Parameterised SQL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434072" y="205740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is a prepared statement — structurally safe from SQL injection.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127248"/>
            <a:ext cx="5349240" cy="1417320"/>
          </a:xfrm>
          <a:prstGeom prst="rect">
            <a:avLst/>
          </a:prstGeom>
          <a:solidFill>
            <a:srgbClr val="F4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3456432"/>
            <a:ext cx="749808" cy="74980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190" y="3651382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332841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auth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91640" y="3675888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HTTP-only session cookies (7-day), role checks on every protected route.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91072" y="3127248"/>
            <a:ext cx="5349240" cy="1417320"/>
          </a:xfrm>
          <a:prstGeom prst="rect">
            <a:avLst/>
          </a:prstGeom>
          <a:solidFill>
            <a:srgbClr val="F4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19672" y="3456432"/>
            <a:ext cx="749808" cy="74980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4622" y="3651382"/>
            <a:ext cx="359908" cy="3599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34072" y="332841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 validation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434072" y="3675888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 enforces MIME allow-list (images + PDF) and an 8 MB / file cap.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4892040"/>
            <a:ext cx="11094415" cy="1143000"/>
          </a:xfrm>
          <a:prstGeom prst="rect">
            <a:avLst/>
          </a:prstGeom>
          <a:solidFill>
            <a:srgbClr val="FBEAE0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" y="507492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A84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Known hardening TODO:  </a:t>
            </a:r>
            <a:r>
              <a:rPr lang="en-US" sz="1200" dirty="0">
                <a:solidFill>
                  <a:srgbClr val="8A4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Express session secret is currently hardcoded and flagged “change-in-production” — it should move to an environment variable / secret before any real deployment.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1141445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548640" y="6400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PawFinder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 animBg="1"/>
      <p:bldP spid="8" grpId="0" animBg="1"/>
      <p:bldP spid="12" grpId="0" animBg="1"/>
      <p:bldP spid="13" grpId="0" animBg="1"/>
      <p:bldP spid="17" grpId="0" animBg="1"/>
      <p:bldP spid="18" grpId="0" animBg="1"/>
      <p:bldP spid="22" grpId="0" animBg="1"/>
      <p:bldP spid="23" grpId="0" animBg="1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Shipped as a Windows desktop app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903720" cy="1371600"/>
          </a:xfrm>
          <a:prstGeom prst="rect">
            <a:avLst/>
          </a:prstGeom>
          <a:solidFill>
            <a:srgbClr val="F4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65376"/>
            <a:ext cx="749808" cy="749808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758" y="2060326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3736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Electron shell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91640" y="2084832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electron-main.js boots the Express server in-process on port 38217 and shows it in one BrowserWindow with a single-instance lock.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3072384"/>
            <a:ext cx="6903720" cy="1371600"/>
          </a:xfrm>
          <a:prstGeom prst="rect">
            <a:avLst/>
          </a:prstGeom>
          <a:solidFill>
            <a:srgbClr val="F4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9808" y="3383280"/>
            <a:ext cx="749808" cy="749808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758" y="3578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3255264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Writable data dir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691640" y="3602736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+ uploads are redirected to Electron userData so they survive an app that ships read-only inside app.asar.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4590288"/>
            <a:ext cx="6903720" cy="1371600"/>
          </a:xfrm>
          <a:prstGeom prst="rect">
            <a:avLst/>
          </a:prstGeom>
          <a:solidFill>
            <a:srgbClr val="F4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49808" y="4901184"/>
            <a:ext cx="749808" cy="749808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758" y="5096134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77316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pipeline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91640" y="5120640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prebuild:electron fetches a better-sqlite3 build for Electron, then electron-builder --win produces the artifact.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680960" y="1554480"/>
            <a:ext cx="3977640" cy="4535424"/>
          </a:xfrm>
          <a:prstGeom prst="rect">
            <a:avLst/>
          </a:prstGeom>
          <a:solidFill>
            <a:srgbClr val="12243B"/>
          </a:solidFill>
          <a:ln/>
        </p:spPr>
      </p:sp>
      <p:sp>
        <p:nvSpPr>
          <p:cNvPr id="20" name="Text 15"/>
          <p:cNvSpPr/>
          <p:nvPr/>
        </p:nvSpPr>
        <p:spPr>
          <a:xfrm>
            <a:off x="7955280" y="17830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REALITY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7955280" y="2148840"/>
            <a:ext cx="34747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spcAft>
                <a:spcPts val="1200"/>
              </a:spcAft>
              <a:buNone/>
            </a:pPr>
            <a:r>
              <a:rPr lang="en-US" sz="115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path contains a space, and the machine runs Node 24 with no better-sqlite3 prebuilts — so native modules need careful, documented juggling.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shipped artifact is a zip of dist/win-unpacked/ — a self-contained PawFinder.exe (a single-file installer isn’t producible in this environment).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1141445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548640" y="6400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PawFinder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 animBg="1"/>
      <p:bldP spid="8" grpId="0" animBg="1"/>
      <p:bldP spid="12" grpId="0" animBg="1"/>
      <p:bldP spid="13" grpId="0" animBg="1"/>
      <p:bldP spid="17" grpId="0" animBg="1"/>
      <p:bldP spid="18" grpId="0" animBg="1"/>
      <p:bldP spid="20" grpId="0" animBg="1"/>
      <p:bldP spid="2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gradFill rotWithShape="1">
          <a:gsLst>
            <a:gs pos="0">
              <a:srgbClr val="1A3155"/>
            </a:gs>
            <a:gs pos="100000">
              <a:srgbClr val="0D1828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480560"/>
            <a:ext cx="3657600" cy="3657600"/>
          </a:xfrm>
          <a:prstGeom prst="ellipse">
            <a:avLst/>
          </a:prstGeom>
          <a:solidFill>
            <a:srgbClr val="1B3450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5394960"/>
            <a:ext cx="1828800" cy="1828800"/>
          </a:xfrm>
          <a:prstGeom prst="ellipse">
            <a:avLst/>
          </a:prstGeom>
          <a:solidFill>
            <a:srgbClr val="0E7C7B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it stands &amp; what’s next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BUILT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5394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adopt → apply → decide workflow with documents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Foster, volunteer, shelters, articles, messaging, paw-points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console with role-based access</a:t>
            </a:r>
            <a:endParaRPr lang="en-US" sz="12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25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Packaged, self-contained Windows desktop app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35508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55080" y="2103120"/>
            <a:ext cx="5212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session secret &amp; config to environment variables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chat (socket.io is already a dependency)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shelter onboarding + donations / payments</a:t>
            </a:r>
            <a:endParaRPr lang="en-US" sz="12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25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&amp; a single-file installer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5257800"/>
            <a:ext cx="11094415" cy="0"/>
          </a:xfrm>
          <a:prstGeom prst="line">
            <a:avLst/>
          </a:prstGeom>
          <a:noFill/>
          <a:ln w="12700">
            <a:solidFill>
              <a:srgbClr val="2C4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5486400"/>
            <a:ext cx="566928" cy="566928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5641848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25880" y="550468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PawFinder — giving Coimbatore’s dogs a faster path home.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1574</Words>
  <Application>Microsoft Office PowerPoint</Application>
  <PresentationFormat>Widescreen</PresentationFormat>
  <Paragraphs>280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PawFinder — Project Overview</dc:title>
  <dc:subject>PptxGenJS Presentation</dc:subject>
  <dc:creator>PawFinder</dc:creator>
  <cp:lastModifiedBy>Adithya v</cp:lastModifiedBy>
  <cp:revision>2</cp:revision>
  <dcterms:created xsi:type="dcterms:W3CDTF">2026-05-18T05:31:28Z</dcterms:created>
  <dcterms:modified xsi:type="dcterms:W3CDTF">2026-05-18T06:45:45Z</dcterms:modified>
</cp:coreProperties>
</file>